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low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6F7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9C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FlowAI — AI Workplace Productivity Assistant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9C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AI-generated content may require human review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B9C9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B9C9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C66F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200400"/>
            <a:ext cx="3657600" cy="3657600"/>
          </a:xfrm>
          <a:prstGeom prst="ellipse">
            <a:avLst/>
          </a:prstGeom>
          <a:solidFill>
            <a:srgbClr val="16A34A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64008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1C66F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640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FlowAI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Workplace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Productivity Assistant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B9C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Automate daily work tasks with structured, professional AI outputs.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448056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9A6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4805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E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Email Generation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80360" y="448056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9A6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44805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E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Meeting Summarization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448056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9A6F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44805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E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 Planning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78040" y="448056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9A6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44805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E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Research Assistance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326880" y="448056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9A6FF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44805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E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Chatbot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functional prototype demonstrating prompt engineering, structured AI outputs, and responsible AI use.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9C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66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Problem &amp; Solution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74552" cy="0"/>
          </a:xfrm>
          <a:prstGeom prst="line">
            <a:avLst/>
          </a:prstGeom>
          <a:noFill/>
          <a:ln w="19050">
            <a:solidFill>
              <a:srgbClr val="EC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5303520" cy="548640"/>
          </a:xfrm>
          <a:prstGeom prst="roundRect">
            <a:avLst>
              <a:gd name="adj" fmla="val 13333"/>
            </a:avLst>
          </a:prstGeom>
          <a:solidFill>
            <a:srgbClr val="F6F7F9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6596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7830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Professionals spend hours on repetitive communication tasks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5303520" cy="548640"/>
          </a:xfrm>
          <a:prstGeom prst="roundRect">
            <a:avLst>
              <a:gd name="adj" fmla="val 13333"/>
            </a:avLst>
          </a:prstGeom>
          <a:solidFill>
            <a:srgbClr val="F6F7F9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0604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4231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Meeting notes often go unstructured and unused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5303520" cy="548640"/>
          </a:xfrm>
          <a:prstGeom prst="roundRect">
            <a:avLst>
              <a:gd name="adj" fmla="val 13333"/>
            </a:avLst>
          </a:prstGeom>
          <a:solidFill>
            <a:srgbClr val="F6F7F9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24612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0632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 prioritization is manual and inconsistent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5303520" cy="548640"/>
          </a:xfrm>
          <a:prstGeom prst="roundRect">
            <a:avLst>
              <a:gd name="adj" fmla="val 13333"/>
            </a:avLst>
          </a:prstGeom>
          <a:solidFill>
            <a:srgbClr val="F6F7F9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88620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7033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Research takes time that could be spent on higher-value work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FlowAI Solution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0" y="1783080"/>
            <a:ext cx="5303520" cy="548640"/>
          </a:xfrm>
          <a:prstGeom prst="roundRect">
            <a:avLst>
              <a:gd name="adj" fmla="val 13333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1965960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17830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AI workspace for five core productivity tasks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2423160"/>
            <a:ext cx="5303520" cy="548640"/>
          </a:xfrm>
          <a:prstGeom prst="roundRect">
            <a:avLst>
              <a:gd name="adj" fmla="val 13333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2606040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24231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Structured prompt engineering for professional output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3063240"/>
            <a:ext cx="5303520" cy="548640"/>
          </a:xfrm>
          <a:prstGeom prst="roundRect">
            <a:avLst>
              <a:gd name="adj" fmla="val 13333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3246120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30632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Tone &amp; audience-aware email generation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3703320"/>
            <a:ext cx="5303520" cy="548640"/>
          </a:xfrm>
          <a:prstGeom prst="roundRect">
            <a:avLst>
              <a:gd name="adj" fmla="val 13333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0" y="3886200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37033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Actionable summaries, plans, and research briefs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B9C9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66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Features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74552" cy="0"/>
          </a:xfrm>
          <a:prstGeom prst="line">
            <a:avLst/>
          </a:prstGeom>
          <a:noFill/>
          <a:ln w="19050">
            <a:solidFill>
              <a:srgbClr val="ECEE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630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66F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✉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520440" y="1417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9C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Smart Email Generator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Tone &amp; audience-based email drafting with structured prompts. Produces subject line, body, and sign-off.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128016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4630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📝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0" y="1417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9C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34840" y="20574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Meeting Notes Summarizer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34840" y="237744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Raw notes → key points, action items with owners, deadlines, and open questions.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0" y="128016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14630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A8A04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109960" y="1417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9C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20574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Task Planner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0" y="237744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Prioritized, time-blocked schedule using Eisenhower urgency/importance ranking.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931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385F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🔬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520440" y="3886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9C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5262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Research Assistant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484632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Structured research briefs: overview, key insights, considerations, next steps.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51960" y="37490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34840" y="3931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F495E"/>
          </a:solidFill>
          <a:ln/>
        </p:spPr>
      </p:sp>
      <p:sp>
        <p:nvSpPr>
          <p:cNvPr id="32" name="Text 30"/>
          <p:cNvSpPr/>
          <p:nvPr/>
        </p:nvSpPr>
        <p:spPr>
          <a:xfrm>
            <a:off x="443484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💬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315200" y="3886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9C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34840" y="45262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Chatbot Interface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434840" y="484632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Conversational assistant with suggestion chips, typing indicators, and reset.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46720" y="37490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0" y="3931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66F0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📊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1109960" y="3886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9C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0" y="45262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Professional Dashboard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229600" y="484632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Overview with usage stats, quick-launch cards, activity feed, and tips.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B9C9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66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Smart Email Generator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74552" cy="0"/>
          </a:xfrm>
          <a:prstGeom prst="line">
            <a:avLst/>
          </a:prstGeom>
          <a:noFill/>
          <a:ln w="19050">
            <a:solidFill>
              <a:srgbClr val="EC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Inputs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6F7F9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66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Purpose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1691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e.g. Follow up on the product demo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6F7F9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86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66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2860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Professional · Friendly · Persuasive · Apologetic · Assertive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6F7F9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80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66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Audience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28803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 · Manager · Team · Vendor · Customer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6F7F9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747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66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points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34747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Bullet points to include in the email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6F7F9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690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66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Sender info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1680" y="40690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Name and role for the sign-off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6F7F9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663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66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Call to action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11680" y="46634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e.g. Reply by Friday with availability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0" y="12801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Sample Output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0" y="1691640"/>
            <a:ext cx="5760720" cy="4206240"/>
          </a:xfrm>
          <a:prstGeom prst="roundRect">
            <a:avLst>
              <a:gd name="adj" fmla="val 1739"/>
            </a:avLst>
          </a:prstGeom>
          <a:solidFill>
            <a:srgbClr val="F6F7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18745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Subject: Action Required — Follow Up On The Product Demo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2286000"/>
            <a:ext cx="5303520" cy="0"/>
          </a:xfrm>
          <a:prstGeom prst="line">
            <a:avLst/>
          </a:prstGeom>
          <a:noFill/>
          <a:ln w="12700">
            <a:solidFill>
              <a:srgbClr val="D5DA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2377440"/>
            <a:ext cx="5303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Hello there,
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I'm writing about follow up on the product demo.
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The demo went well and the client is interested
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Next step is a pricing review call
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Timeline target is end of next week
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Please reply by Friday with availability.
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Thank you,
</a:t>
            </a:r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Alex Kim — Project Manager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B9C9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66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Meeting Notes Summarizer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74552" cy="0"/>
          </a:xfrm>
          <a:prstGeom prst="line">
            <a:avLst/>
          </a:prstGeom>
          <a:noFill/>
          <a:ln w="19050">
            <a:solidFill>
              <a:srgbClr val="EC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Raw Notes (Input)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029200" cy="4206240"/>
          </a:xfrm>
          <a:prstGeom prst="roundRect">
            <a:avLst>
              <a:gd name="adj" fmla="val 1739"/>
            </a:avLst>
          </a:prstGeom>
          <a:solidFill>
            <a:srgbClr val="131722"/>
          </a:solidFill>
          <a:ln w="12700">
            <a:solidFill>
              <a:srgbClr val="1F25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74520"/>
            <a:ext cx="45720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5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Product Roadmap Review
</a:t>
            </a:r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B0B9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Participants: Sarah, Mike, Jen
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5DA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Discussed launch timeline, target is Oct 15
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5DA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Sarah to finalize pricing by Oct 1
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5DA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Budget approved for marketing campaign
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5DA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Need to confirm vendor contract before Oct 10
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5DA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Customer feedback loop still undefined
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5DA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Mike raised concern about dev capacity
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12801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Structured Summary (Output)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1691640"/>
            <a:ext cx="5760720" cy="292608"/>
          </a:xfrm>
          <a:prstGeom prst="roundRect">
            <a:avLst>
              <a:gd name="adj" fmla="val 18750"/>
            </a:avLst>
          </a:prstGeom>
          <a:solidFill>
            <a:srgbClr val="1C66F0"/>
          </a:solidFill>
          <a:ln/>
        </p:spPr>
      </p:sp>
      <p:sp>
        <p:nvSpPr>
          <p:cNvPr id="11" name="Text 9"/>
          <p:cNvSpPr/>
          <p:nvPr/>
        </p:nvSpPr>
        <p:spPr>
          <a:xfrm>
            <a:off x="6080760" y="16916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Summary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2103120"/>
            <a:ext cx="91440" cy="91440"/>
          </a:xfrm>
          <a:prstGeom prst="ellipse">
            <a:avLst/>
          </a:prstGeom>
          <a:solidFill>
            <a:srgbClr val="1C66F0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039112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Q3 roadmap reviewed. 2 action items assigned. On track with minor follow-ups.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0" y="2386584"/>
            <a:ext cx="5760720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238658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Points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2798064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273405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Launch target: Oct 15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3072384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300837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Budget approved for marketing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72200" y="3346704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28269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Vendor contract must be confirmed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0" y="3630168"/>
            <a:ext cx="5760720" cy="292608"/>
          </a:xfrm>
          <a:prstGeom prst="roundRect">
            <a:avLst>
              <a:gd name="adj" fmla="val 18750"/>
            </a:avLst>
          </a:prstGeom>
          <a:solidFill>
            <a:srgbClr val="1C66F0"/>
          </a:solidFill>
          <a:ln/>
        </p:spPr>
      </p:sp>
      <p:sp>
        <p:nvSpPr>
          <p:cNvPr id="23" name="Text 21"/>
          <p:cNvSpPr/>
          <p:nvPr/>
        </p:nvSpPr>
        <p:spPr>
          <a:xfrm>
            <a:off x="6080760" y="36301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Action Items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4041648"/>
            <a:ext cx="91440" cy="91440"/>
          </a:xfrm>
          <a:prstGeom prst="ellipse">
            <a:avLst/>
          </a:prstGeom>
          <a:solidFill>
            <a:srgbClr val="1C66F0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397764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Finalize pricing — Owner: Sarah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72200" y="4315968"/>
            <a:ext cx="91440" cy="91440"/>
          </a:xfrm>
          <a:prstGeom prst="ellipse">
            <a:avLst/>
          </a:prstGeom>
          <a:solidFill>
            <a:srgbClr val="1C66F0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425196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Confirm vendor contract — Owner: Mike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43600" y="4599432"/>
            <a:ext cx="5760720" cy="292608"/>
          </a:xfrm>
          <a:prstGeom prst="roundRect">
            <a:avLst>
              <a:gd name="adj" fmla="val 18750"/>
            </a:avLst>
          </a:prstGeom>
          <a:solidFill>
            <a:srgbClr val="CA8A04"/>
          </a:solidFill>
          <a:ln/>
        </p:spPr>
      </p:sp>
      <p:sp>
        <p:nvSpPr>
          <p:cNvPr id="29" name="Text 27"/>
          <p:cNvSpPr/>
          <p:nvPr/>
        </p:nvSpPr>
        <p:spPr>
          <a:xfrm>
            <a:off x="6080760" y="459943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Deadlines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5010912"/>
            <a:ext cx="91440" cy="91440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494690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Pricing by Oct 1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2200" y="5285232"/>
            <a:ext cx="91440" cy="91440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522122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Vendor contract before Oct 10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72200" y="5559552"/>
            <a:ext cx="91440" cy="91440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549554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Launch by Oct 15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43600" y="5843016"/>
            <a:ext cx="5760720" cy="292608"/>
          </a:xfrm>
          <a:prstGeom prst="roundRect">
            <a:avLst>
              <a:gd name="adj" fmla="val 18750"/>
            </a:avLst>
          </a:prstGeom>
          <a:solidFill>
            <a:srgbClr val="3F495E"/>
          </a:solidFill>
          <a:ln/>
        </p:spPr>
      </p:sp>
      <p:sp>
        <p:nvSpPr>
          <p:cNvPr id="37" name="Text 35"/>
          <p:cNvSpPr/>
          <p:nvPr/>
        </p:nvSpPr>
        <p:spPr>
          <a:xfrm>
            <a:off x="6080760" y="584301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Open Questions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72200" y="6254496"/>
            <a:ext cx="91440" cy="91440"/>
          </a:xfrm>
          <a:prstGeom prst="ellipse">
            <a:avLst/>
          </a:prstGeom>
          <a:solidFill>
            <a:srgbClr val="3F495E"/>
          </a:solidFill>
          <a:ln/>
        </p:spPr>
      </p:sp>
      <p:sp>
        <p:nvSpPr>
          <p:cNvPr id="39" name="Text 37"/>
          <p:cNvSpPr/>
          <p:nvPr/>
        </p:nvSpPr>
        <p:spPr>
          <a:xfrm>
            <a:off x="6355080" y="619048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Customer feedback loop to be defined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72200" y="6528816"/>
            <a:ext cx="91440" cy="91440"/>
          </a:xfrm>
          <a:prstGeom prst="ellipse">
            <a:avLst/>
          </a:prstGeom>
          <a:solidFill>
            <a:srgbClr val="3F495E"/>
          </a:solidFill>
          <a:ln/>
        </p:spPr>
      </p:sp>
      <p:sp>
        <p:nvSpPr>
          <p:cNvPr id="41" name="Text 39"/>
          <p:cNvSpPr/>
          <p:nvPr/>
        </p:nvSpPr>
        <p:spPr>
          <a:xfrm>
            <a:off x="6355080" y="646480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Dev capacity concern to address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B9C9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66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Task Planner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74552" cy="0"/>
          </a:xfrm>
          <a:prstGeom prst="line">
            <a:avLst/>
          </a:prstGeom>
          <a:noFill/>
          <a:ln w="19050">
            <a:solidFill>
              <a:srgbClr val="EC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Today's Schedule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F6F7F9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916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271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09:00–10:00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1691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Prepare quarterly report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80136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8013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High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F6F7F9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860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271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10:00–11:00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2286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 follow-up call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239572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3957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High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F6F7F9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8803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271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11:00–12:00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2880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Review team OKRs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299008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CA8A04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990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F6F7F9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4747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271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12:00–13:00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03120" y="3474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Lunch break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358444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5844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069080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F6F7F9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0690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271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13:00–14:00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03120" y="4069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Update project tracker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417880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CA8A04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41788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663440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F6F7F9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6634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271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14:00–15:00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103120" y="4663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Inbox triage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37760" y="477316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4773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Priority Queue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217920" y="1691640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EEF6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16916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66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20840" y="170992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Prepare quarterly report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20840" y="19659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Directly tied to a deadline this week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17920" y="2331720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EEF6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23317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66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20840" y="23500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 follow-up call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20840" y="260604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Unblocks other team members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17920" y="2971800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EEF6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5080" y="29718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66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20840" y="29900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Review team OKRs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720840" y="32461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High impact, low effort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17920" y="3749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Defer / Delegate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217920" y="4160520"/>
            <a:ext cx="5486400" cy="365760"/>
          </a:xfrm>
          <a:prstGeom prst="roundRect">
            <a:avLst>
              <a:gd name="adj" fmla="val 15000"/>
            </a:avLst>
          </a:prstGeom>
          <a:solidFill>
            <a:srgbClr val="F6F7F9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55080" y="4160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  Delegate: Inbox triage to assistant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17920" y="4617720"/>
            <a:ext cx="5486400" cy="365760"/>
          </a:xfrm>
          <a:prstGeom prst="roundRect">
            <a:avLst>
              <a:gd name="adj" fmla="val 15000"/>
            </a:avLst>
          </a:prstGeom>
          <a:solidFill>
            <a:srgbClr val="F6F7F9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55080" y="4617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  Defer: Non-urgent reading to Friday afternoon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217920" y="5166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66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Focus tip: Protect the first 90 minutes for deep work on the top-priority task.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B9C9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66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Research Assistant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74552" cy="0"/>
          </a:xfrm>
          <a:prstGeom prst="line">
            <a:avLst/>
          </a:prstGeom>
          <a:noFill/>
          <a:ln w="19050">
            <a:solidFill>
              <a:srgbClr val="EC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Inputs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6F7F9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66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Topic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37360" y="1691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adoption in mid-market companies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6F7F9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860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66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Focus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286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Cost-benefit and implementation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F6F7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735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Brief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4787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Quick overview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48840" y="324612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1C66F0"/>
          </a:solidFill>
          <a:ln w="12700">
            <a:solidFill>
              <a:srgbClr val="1C66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32735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Standard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48840" y="354787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F6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Balanced detail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0" y="324612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F6F7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32735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Detailed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354787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In-depth analysis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12801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Research Brief (Output)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0" y="1691640"/>
            <a:ext cx="5760720" cy="274320"/>
          </a:xfrm>
          <a:prstGeom prst="roundRect">
            <a:avLst>
              <a:gd name="adj" fmla="val 20000"/>
            </a:avLst>
          </a:prstGeom>
          <a:solidFill>
            <a:srgbClr val="1C66F0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Overview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202082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adoption in mid-market companies is increasingly relevant for teams focused on cost-benefit and implementation.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43600" y="2523744"/>
            <a:ext cx="5760720" cy="27432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6080760" y="2523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Insights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2907792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2852928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Adoption accelerating in mid-market orgs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72200" y="3163824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3108960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Cost efficiency improves within 6–9 months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72200" y="3419856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3364992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Integration with existing tools is the top hurdle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43600" y="3666744"/>
            <a:ext cx="5760720" cy="274320"/>
          </a:xfrm>
          <a:prstGeom prst="roundRect">
            <a:avLst>
              <a:gd name="adj" fmla="val 20000"/>
            </a:avLst>
          </a:prstGeom>
          <a:solidFill>
            <a:srgbClr val="CA8A04"/>
          </a:solidFill>
          <a:ln/>
        </p:spPr>
      </p:sp>
      <p:sp>
        <p:nvSpPr>
          <p:cNvPr id="36" name="Text 34"/>
          <p:cNvSpPr/>
          <p:nvPr/>
        </p:nvSpPr>
        <p:spPr>
          <a:xfrm>
            <a:off x="6080760" y="3666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Considerations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72200" y="4050792"/>
            <a:ext cx="91440" cy="91440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3995928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Results vary by org context — validate with a pilot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72200" y="4306824"/>
            <a:ext cx="91440" cy="91440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40" name="Text 38"/>
          <p:cNvSpPr/>
          <p:nvPr/>
        </p:nvSpPr>
        <p:spPr>
          <a:xfrm>
            <a:off x="6355080" y="4251960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Watch for hidden costs in training and change management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43600" y="4553712"/>
            <a:ext cx="5760720" cy="274320"/>
          </a:xfrm>
          <a:prstGeom prst="roundRect">
            <a:avLst>
              <a:gd name="adj" fmla="val 20000"/>
            </a:avLst>
          </a:prstGeom>
          <a:solidFill>
            <a:srgbClr val="1C66F0"/>
          </a:solidFill>
          <a:ln/>
        </p:spPr>
      </p:sp>
      <p:sp>
        <p:nvSpPr>
          <p:cNvPr id="42" name="Text 40"/>
          <p:cNvSpPr/>
          <p:nvPr/>
        </p:nvSpPr>
        <p:spPr>
          <a:xfrm>
            <a:off x="6080760" y="45537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72200" y="4937760"/>
            <a:ext cx="91440" cy="91440"/>
          </a:xfrm>
          <a:prstGeom prst="ellipse">
            <a:avLst/>
          </a:prstGeom>
          <a:solidFill>
            <a:srgbClr val="1C66F0"/>
          </a:solidFill>
          <a:ln/>
        </p:spPr>
      </p:sp>
      <p:sp>
        <p:nvSpPr>
          <p:cNvPr id="44" name="Text 42"/>
          <p:cNvSpPr/>
          <p:nvPr/>
        </p:nvSpPr>
        <p:spPr>
          <a:xfrm>
            <a:off x="6355080" y="4882896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Run a 2-week pilot on cost-benefit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72200" y="5193792"/>
            <a:ext cx="91440" cy="91440"/>
          </a:xfrm>
          <a:prstGeom prst="ellipse">
            <a:avLst/>
          </a:prstGeom>
          <a:solidFill>
            <a:srgbClr val="1C66F0"/>
          </a:solidFill>
          <a:ln/>
        </p:spPr>
      </p:sp>
      <p:sp>
        <p:nvSpPr>
          <p:cNvPr id="46" name="Text 44"/>
          <p:cNvSpPr/>
          <p:nvPr/>
        </p:nvSpPr>
        <p:spPr>
          <a:xfrm>
            <a:off x="6355080" y="5138928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Document current workflows as a baseline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72200" y="5449824"/>
            <a:ext cx="91440" cy="91440"/>
          </a:xfrm>
          <a:prstGeom prst="ellipse">
            <a:avLst/>
          </a:prstGeom>
          <a:solidFill>
            <a:srgbClr val="1C66F0"/>
          </a:solidFill>
          <a:ln/>
        </p:spPr>
      </p:sp>
      <p:sp>
        <p:nvSpPr>
          <p:cNvPr id="48" name="Text 46"/>
          <p:cNvSpPr/>
          <p:nvPr/>
        </p:nvSpPr>
        <p:spPr>
          <a:xfrm>
            <a:off x="6355080" y="5394960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Identify 1–2 champions to drive adoption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B9C9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66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Chatbot Interface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74552" cy="0"/>
          </a:xfrm>
          <a:prstGeom prst="line">
            <a:avLst/>
          </a:prstGeom>
          <a:noFill/>
          <a:ln w="19050">
            <a:solidFill>
              <a:srgbClr val="ECEE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1371600"/>
            <a:ext cx="758952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9050">
            <a:solidFill>
              <a:srgbClr val="D5DA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1371600"/>
            <a:ext cx="7589520" cy="548640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19050">
            <a:solidFill>
              <a:srgbClr val="D5DA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1508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C66F0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FlowAI Assistant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508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● Online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2148840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1C66F0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2148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Help me prioritize my tasks for today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278892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F6F7F9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27889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Here's a practical take: break it into three steps, tackle the highest-impact one first, and timebox the rest. Want me to draft a quick plan?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0" y="361188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F6F7F9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3611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85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● ● 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Suggested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0" y="443484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Draft a follow-up email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83480" y="443484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Summarize meeting notes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06640" y="443484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 my day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0" y="5166360"/>
            <a:ext cx="7040880" cy="502920"/>
          </a:xfrm>
          <a:prstGeom prst="roundRect">
            <a:avLst>
              <a:gd name="adj" fmla="val 18182"/>
            </a:avLst>
          </a:prstGeom>
          <a:solidFill>
            <a:srgbClr val="F6F7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51663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Type your message…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052560" y="5230368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1C66F0"/>
          </a:solidFill>
          <a:ln/>
        </p:spPr>
      </p:sp>
      <p:sp>
        <p:nvSpPr>
          <p:cNvPr id="28" name="Text 26"/>
          <p:cNvSpPr/>
          <p:nvPr/>
        </p:nvSpPr>
        <p:spPr>
          <a:xfrm>
            <a:off x="9052560" y="5230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➤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Capabilities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1874520"/>
            <a:ext cx="137160" cy="137160"/>
          </a:xfrm>
          <a:prstGeom prst="ellipse">
            <a:avLst/>
          </a:prstGeom>
          <a:solidFill>
            <a:srgbClr val="1C66F0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18105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Suggestion chips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286000"/>
            <a:ext cx="137160" cy="137160"/>
          </a:xfrm>
          <a:prstGeom prst="ellipse">
            <a:avLst/>
          </a:prstGeom>
          <a:solidFill>
            <a:srgbClr val="1C66F0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22219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Typing indicators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2697480"/>
            <a:ext cx="137160" cy="137160"/>
          </a:xfrm>
          <a:prstGeom prst="ellipse">
            <a:avLst/>
          </a:prstGeom>
          <a:solidFill>
            <a:srgbClr val="1C66F0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26334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Conversation context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108960"/>
            <a:ext cx="137160" cy="137160"/>
          </a:xfrm>
          <a:prstGeom prst="ellipse">
            <a:avLst/>
          </a:prstGeom>
          <a:solidFill>
            <a:srgbClr val="1C66F0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30449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One-click reset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520440"/>
            <a:ext cx="137160" cy="137160"/>
          </a:xfrm>
          <a:prstGeom prst="ellipse">
            <a:avLst/>
          </a:prstGeom>
          <a:solidFill>
            <a:srgbClr val="1C66F0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" y="34564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Practical responses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B9C9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66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Prompt Engineering Approach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74552" cy="0"/>
          </a:xfrm>
          <a:prstGeom prst="line">
            <a:avLst/>
          </a:prstGeom>
          <a:noFill/>
          <a:ln w="19050">
            <a:solidFill>
              <a:srgbClr val="EC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feature uses a structured prompt template with four components: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6F7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0116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C66F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66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Define the AI persona — e.g., "You are an expert workplace communications assistant."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182880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6F7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20116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20440" y="2651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30175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State the specific action — e.g., "Draft a polished, ready-to-send email."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82880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6F7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20116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CA8A0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0" y="2651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8A0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CONSTRAINTS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0175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List tone, audience, key points, length, and context boundaries.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98280" y="182880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6F7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81160" y="20116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3F495E"/>
          </a:solidFill>
          <a:ln/>
        </p:spPr>
      </p:sp>
      <p:sp>
        <p:nvSpPr>
          <p:cNvPr id="24" name="Text 22"/>
          <p:cNvSpPr/>
          <p:nvPr/>
        </p:nvSpPr>
        <p:spPr>
          <a:xfrm>
            <a:off x="92811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81160" y="2651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OUTPUT FORMAT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81160" y="30175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Specify the exact structure — sections, bullets, or line-by-line format.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114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Example: Email Generator Prompt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480560"/>
            <a:ext cx="11274552" cy="1645920"/>
          </a:xfrm>
          <a:prstGeom prst="roundRect">
            <a:avLst>
              <a:gd name="adj" fmla="val 4444"/>
            </a:avLst>
          </a:prstGeom>
          <a:solidFill>
            <a:srgbClr val="131722"/>
          </a:solidFill>
          <a:ln w="12700">
            <a:solidFill>
              <a:srgbClr val="1F25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61772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5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5DA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an expert workplace communications assistant.
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TASK: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5DA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 a polished, ready-to-send email.
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CONSTRAINTS: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5DA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Tone: professional | Audience: client | Key points: demo went well, next step is pricing
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5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FORMAT: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5DA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 line on the first line, blank line, then the email body.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B9C9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66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 Stack &amp;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74552" cy="0"/>
          </a:xfrm>
          <a:prstGeom prst="line">
            <a:avLst/>
          </a:prstGeom>
          <a:noFill/>
          <a:ln w="19050">
            <a:solidFill>
              <a:srgbClr val="ECEE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087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C66F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1463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React 18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1783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UI framework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51960" y="128016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5087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3F495E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1463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1783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Type-safe code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128016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5087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CA8A0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15400" y="1463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Vite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15400" y="1783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Build tooling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46888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26974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3385F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🎨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5880" y="2651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25880" y="2971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Design system &amp; styling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51960" y="246888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34840" y="26974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443484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✦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20640" y="2651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Lucide React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20640" y="2971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Icon library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46720" y="246888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26974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⚡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915400" y="2651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Supabase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915400" y="2971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Backend ready (available)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3794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Application Architecture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" y="420624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6F7F9"/>
          </a:solidFill>
          <a:ln w="19050">
            <a:solidFill>
              <a:srgbClr val="1C66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4297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66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User Input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" y="4617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Forms &amp; controls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926080" y="44348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B9C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3337560" y="420624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6F7F9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0" y="4297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Prompt Builder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474720" y="4617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Structured template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06440" y="44348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B9C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6217920" y="420624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6F7F9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4297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8A0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55080" y="4617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Generation logic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686800" y="44348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B9C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9098280" y="420624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6F7F9"/>
          </a:solidFill>
          <a:ln w="19050">
            <a:solidFill>
              <a:srgbClr val="3F49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35440" y="4297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Formatted Output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235440" y="4617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UI + copy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Design: Modern SaaS UI · 6+ color ramps · 8px spacing system · responsive · animations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B9C9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66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Responsible &amp; Ethical AI Use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74552" cy="0"/>
          </a:xfrm>
          <a:prstGeom prst="line">
            <a:avLst/>
          </a:prstGeom>
          <a:noFill/>
          <a:ln w="19050">
            <a:solidFill>
              <a:srgbClr val="ECEE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FFFBE0"/>
          </a:solidFill>
          <a:ln w="19050">
            <a:solidFill>
              <a:srgbClr val="EAB3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80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8A0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  AI-generated content may require human review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40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66F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👁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Human Oversight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1546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AI output is clearly labeled and includes a review reminder. Users are encouraged to edit before use.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1960" y="20574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2240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🔍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34840" y="28346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Transparency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34840" y="31546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Outputs are marked as AI-generated. The system never presents AI content as human-written.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0" y="20574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2240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A8A04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29600" y="28346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Grounded Outputs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31546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Research features flag uncertainty and avoid fabrication. Claims include caveats.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3434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F495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0080" y="49377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Privacy First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2578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unnecessary data collection. User inputs stay in the session. Supabase available for opt-in persistence.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51960" y="41605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34840" y="43434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385FC"/>
          </a:solidFill>
          <a:ln/>
        </p:spPr>
      </p:sp>
      <p:sp>
        <p:nvSpPr>
          <p:cNvPr id="30" name="Text 28"/>
          <p:cNvSpPr/>
          <p:nvPr/>
        </p:nvSpPr>
        <p:spPr>
          <a:xfrm>
            <a:off x="443484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💼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434840" y="49377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Professional Tone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34840" y="52578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All outputs default to professional, workplace-appropriate language and structure.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46720" y="41605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43434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2C55E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♿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229600" y="49377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Accessibility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29600" y="52578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Responsive design, semantic HTML, keyboard navigation, and readable contrast ratios.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B9C9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66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Live Demo Walkthrough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74552" cy="0"/>
          </a:xfrm>
          <a:prstGeom prst="line">
            <a:avLst/>
          </a:prstGeom>
          <a:noFill/>
          <a:ln w="19050">
            <a:solidFill>
              <a:srgbClr val="ECEE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F6F7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rgbClr val="1C66F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554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2402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Start at the overview — see stats, quick-launch cards, and recent activity.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51960" y="128016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F6F7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508760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66360" y="1554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Email Generator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22402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Select tone &amp; audience, enter purpose and key points, click Generate.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28016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F6F7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1508760"/>
            <a:ext cx="548640" cy="548640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61120" y="1554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Meeting Summarizer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75320" y="22402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Paste raw notes, get structured summary with action items and deadlines.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F6F7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886200"/>
            <a:ext cx="548640" cy="548640"/>
          </a:xfrm>
          <a:prstGeom prst="ellipse">
            <a:avLst/>
          </a:prstGeom>
          <a:solidFill>
            <a:srgbClr val="3385FC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7160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 Planner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461772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List tasks, get a time-blocked schedule and priority queue.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51960" y="365760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F6F7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3886200"/>
            <a:ext cx="548640" cy="548640"/>
          </a:xfrm>
          <a:prstGeom prst="ellipse">
            <a:avLst/>
          </a:prstGeom>
          <a:solidFill>
            <a:srgbClr val="3F495E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16636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Research Assistant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80560" y="461772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Enter a topic and depth, receive a structured research brief.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46720" y="365760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F6F7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75320" y="388620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827532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96112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Chatbot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75320" y="461772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Ask questions, use suggestion chips, reset conversation anytime.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B9C9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66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Outcomes &amp; Impact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74552" cy="0"/>
          </a:xfrm>
          <a:prstGeom prst="line">
            <a:avLst/>
          </a:prstGeom>
          <a:noFill/>
          <a:ln w="19050">
            <a:solidFill>
              <a:srgbClr val="ECEE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6F7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66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AI-powered tools in one workspace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6F7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4173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20440" y="21031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Structured prompt components per feature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6F7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4173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8A0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00800" y="21031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Responsive across all devices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98280" y="128016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6F7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14173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281160" y="21031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Unified, professional SaaS interface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017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Business Impact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630168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4747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Reduces time spent on routine communication by 50–70%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178808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0233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Turns unstructured notes into actionable, shareable summaries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727448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5720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Standardizes professional tone across all workplace outputs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1206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276088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1206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9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Democratizes AI tools — no technical expertise required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5760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66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practical, production-ready prototype demonstrating effective and responsible use of AI in the workplace.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B9C9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66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Future Enhancements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74552" cy="0"/>
          </a:xfrm>
          <a:prstGeom prst="line">
            <a:avLst/>
          </a:prstGeom>
          <a:noFill/>
          <a:ln w="19050">
            <a:solidFill>
              <a:srgbClr val="ECEE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630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C66F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🔌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Live AI Integration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Connect to OpenAI, Gemini, or Claude APIs for real-time generation instead of simulated output.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51960" y="128016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4630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💾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2064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Save &amp; History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34840" y="219456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Persist generated emails, summaries, and plans to Supabase for later access and reuse.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128016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4630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CA8A0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👥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91540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Team Collaboration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219456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Share summaries and plans with teammates; assign and track action items.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8404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3385F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📅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325880" y="3886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Calendar Integration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57200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Sync the AI Task Planner with Google Calendar or Outlook for real scheduling.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51960" y="365760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34840" y="38404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3F495E"/>
          </a:solidFill>
          <a:ln/>
        </p:spPr>
      </p:sp>
      <p:sp>
        <p:nvSpPr>
          <p:cNvPr id="28" name="Text 26"/>
          <p:cNvSpPr/>
          <p:nvPr/>
        </p:nvSpPr>
        <p:spPr>
          <a:xfrm>
            <a:off x="443484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📤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120640" y="3886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Email Send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34840" y="457200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Connect an email provider to send generated emails directly from the app.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46720" y="365760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38404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🎙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915400" y="3886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5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Voice Input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29600" y="457200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Dictate meeting notes or chat messages hands-free using Web Speech API.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B9C9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1C66F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6A34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03520" y="64008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1C66F0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0" y="640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0" y="20116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0" y="30175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0B9C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80160" y="41148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9A6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E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Email Generator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41148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9A6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E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Meeting Summarizer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41148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9A6F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E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 Planner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41148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9A6FF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E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Research Assistant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326880" y="41148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9A6FF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E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Chatbot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0" y="50292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A6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FlowAI — AI Workplace Productivity Assistant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0" y="54864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271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AI-generated content may require human review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FlowAI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FlowAI — AI Workplace Productivity Assistant</dc:title>
  <dc:subject>AI Workplace Productivity Assistant</dc:subject>
  <dc:creator>FlowAI</dc:creator>
  <cp:lastModifiedBy>FlowAI</cp:lastModifiedBy>
  <cp:revision>1</cp:revision>
  <dcterms:created xsi:type="dcterms:W3CDTF">2026-08-21T11:30:53Z</dcterms:created>
  <dcterms:modified xsi:type="dcterms:W3CDTF">2026-08-21T11:30:53Z</dcterms:modified>
</cp:coreProperties>
</file>